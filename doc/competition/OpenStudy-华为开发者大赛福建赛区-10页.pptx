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-2011680"/>
            <a:ext cx="5669280" cy="56692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32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24160" y="3291840"/>
            <a:ext cx="3840480" cy="3840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B1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5686FE"/>
                </a:solidFill>
                <a:latin typeface="微软雅黑"/>
              </a:rPr>
              <a:t>HUAWEI DEVELOPER COMPETITION  ·  FUJIAN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微软雅黑 Light"/>
              </a:rPr>
              <a:t>OpenStudy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5852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把不会的，问到会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944368"/>
            <a:ext cx="1005840" cy="0"/>
          </a:xfrm>
          <a:prstGeom prst="line">
            <a:avLst/>
          </a:prstGeom>
          <a:ln w="31750">
            <a:solidFill>
              <a:srgbClr val="417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154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ADB2B8"/>
                </a:solidFill>
                <a:latin typeface="微软雅黑"/>
              </a:rPr>
              <a:t>会读你资料的 AI 学习智能体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ADB2B8"/>
                </a:solidFill>
                <a:latin typeface="微软雅黑"/>
              </a:rPr>
              <a:t>从一份 Word，到一套能刷的题、一份下一步计划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80">
                <a:solidFill>
                  <a:srgbClr val="61666B"/>
                </a:solidFill>
                <a:latin typeface="微软雅黑"/>
              </a:rPr>
              <a:t>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59943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3D6DB"/>
                </a:solidFill>
                <a:latin typeface="微软雅黑"/>
              </a:rPr>
              <a:t>AI + 教育 · 垂直智能体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0176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80">
                <a:solidFill>
                  <a:srgbClr val="61666B"/>
                </a:solidFill>
                <a:latin typeface="微软雅黑"/>
              </a:rPr>
              <a:t>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49834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3D6DB"/>
                </a:solidFill>
                <a:latin typeface="微软雅黑"/>
              </a:rPr>
              <a:t>可演示作品 / 10 页方案 / GitCode 源码 / 演示视频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8581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80">
                <a:solidFill>
                  <a:srgbClr val="61666B"/>
                </a:solidFill>
                <a:latin typeface="微软雅黑"/>
              </a:rPr>
              <a:t>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53675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3D6DB"/>
                </a:solidFill>
                <a:latin typeface="微软雅黑"/>
              </a:rPr>
              <a:t>华为云码道 CodeArts 代码智能体 · 全程留痕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3454A"/>
                </a:solidFill>
                <a:latin typeface="微软雅黑"/>
              </a:rPr>
              <a:t>OpenStudy  ·  在线学习平台  ·  FastAPI + Vue 3</a:t>
            </a:r>
          </a:p>
        </p:txBody>
      </p:sp>
      <p:pic>
        <p:nvPicPr>
          <p:cNvPr id="17" name="Picture 16" descr="crop_487169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078992"/>
            <a:ext cx="4617720" cy="29077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7728" y="1078992"/>
            <a:ext cx="4617720" cy="290779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4133087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1666B"/>
                </a:solidFill>
                <a:latin typeface="微软雅黑"/>
              </a:rPr>
              <a:t>真实运行截图  ·  智能体对话即入口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470916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 Light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517550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1858C"/>
                </a:solidFill>
                <a:latin typeface="微软雅黑"/>
              </a:rPr>
              <a:t>个公开题库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70916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 Light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517550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1858C"/>
                </a:solidFill>
                <a:latin typeface="微软雅黑"/>
              </a:rPr>
              <a:t>个智能体工具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4" y="470916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 Light"/>
              </a:rPr>
              <a:t>3,166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517550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1858C"/>
                </a:solidFill>
                <a:latin typeface="微软雅黑"/>
              </a:rPr>
              <a:t>次码道工具调用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67728" y="5541264"/>
            <a:ext cx="4617720" cy="0"/>
          </a:xfrm>
          <a:prstGeom prst="line">
            <a:avLst/>
          </a:prstGeom>
          <a:ln w="635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67728" y="565099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686FE"/>
                </a:solidFill>
                <a:latin typeface="微软雅黑"/>
              </a:rPr>
              <a:t>gitcode.com/qi142410131/openstudy-fastapi-ts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01  /  场景价值 ·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谁的问题：不是没题刷，是「资料变不成题、错题没人管」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面向高校学生与自学者——他们手里有资料，缺的是一条把资料变成练习、再把练习变成下一步的路径。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3411626" cy="2084831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482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DD8629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77440"/>
            <a:ext cx="289956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115"/>
                </a:solidFill>
                <a:latin typeface="微软雅黑"/>
              </a:rPr>
              <a:t>资料在硬盘里，题在纸上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99232"/>
            <a:ext cx="289956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1666B"/>
                </a:solidFill>
                <a:latin typeface="微软雅黑"/>
              </a:rPr>
              <a:t>课件、真题、教材大多是 Word / PDF / 扫描件；手动录 20 道题约 1 小时，公式和图还会丢。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0034" y="1847088"/>
            <a:ext cx="3411626" cy="2084831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6066" y="20482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DD8629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6066" y="2377440"/>
            <a:ext cx="289956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115"/>
                </a:solidFill>
                <a:latin typeface="微软雅黑"/>
              </a:rPr>
              <a:t>错题越积越多，掌握率起不来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2999232"/>
            <a:ext cx="289956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1666B"/>
                </a:solidFill>
                <a:latin typeface="微软雅黑"/>
              </a:rPr>
              <a:t>演示账号真实数据：累计作答 299 次、正确率 49.5%、待消灭错题 48 道、已掌握 0 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1847088"/>
            <a:ext cx="3411626" cy="2084831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8860" y="20482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DD8629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8860" y="2377440"/>
            <a:ext cx="289956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115"/>
                </a:solidFill>
                <a:latin typeface="微软雅黑"/>
              </a:rPr>
              <a:t>通用 AI 只会聊，不会「办事」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860" y="2999232"/>
            <a:ext cx="289956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1666B"/>
                </a:solidFill>
                <a:latin typeface="微软雅黑"/>
              </a:rPr>
              <a:t>能解释知识点，却不能建题库、不能出卷、不能改错题本——聊完还得自己动手。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87952"/>
            <a:ext cx="10637215" cy="786384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187952"/>
            <a:ext cx="50292" cy="786384"/>
          </a:xfrm>
          <a:prstGeom prst="rect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3425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60">
                <a:solidFill>
                  <a:srgbClr val="4176E6"/>
                </a:solidFill>
                <a:latin typeface="微软雅黑"/>
              </a:rPr>
              <a:t>用户原话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5" y="4297680"/>
            <a:ext cx="9265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83142"/>
                </a:solidFill>
                <a:latin typeface="微软雅黑"/>
              </a:rPr>
              <a:t>“我只想把我自己的资料变成能刷的题，并且告诉我下一步练什么。”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60">
                <a:solidFill>
                  <a:srgbClr val="81858C"/>
                </a:solidFill>
                <a:latin typeface="微软雅黑"/>
              </a:rPr>
              <a:t>所以我们把产品做成三件事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468112"/>
            <a:ext cx="3240938" cy="0"/>
          </a:xfrm>
          <a:prstGeom prst="line">
            <a:avLst/>
          </a:prstGeom>
          <a:ln w="1524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559552"/>
            <a:ext cx="3240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115"/>
                </a:solidFill>
                <a:latin typeface="微软雅黑"/>
              </a:rPr>
              <a:t>资料即题库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33872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上传即解析入库，AI 依据原文出题并标注出处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3938" y="5468112"/>
            <a:ext cx="3240938" cy="0"/>
          </a:xfrm>
          <a:prstGeom prst="line">
            <a:avLst/>
          </a:prstGeom>
          <a:ln w="1524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3938" y="5559552"/>
            <a:ext cx="3240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115"/>
                </a:solidFill>
                <a:latin typeface="微软雅黑"/>
              </a:rPr>
              <a:t>练习即诊断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938" y="5833872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每一道错题都进错题本，统计到知识点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90636" y="5468112"/>
            <a:ext cx="3240939" cy="0"/>
          </a:xfrm>
          <a:prstGeom prst="line">
            <a:avLst/>
          </a:prstGeom>
          <a:ln w="1524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90636" y="5559552"/>
            <a:ext cx="3240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115"/>
                </a:solidFill>
                <a:latin typeface="微软雅黑"/>
              </a:rPr>
              <a:t>对话即操作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0636" y="5833872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一句话建库、组卷、排计划，全部落库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02  /  产品方案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我们的答案：对话即入口，一条从「资料」到「下一步」的闭环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不做又一个聊天框，也不做又一个题库——把 AI 的能力接到真实业务表上，每一步都可执行、可回滚。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847088" cy="1188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DB2B8"/>
                </a:solidFill>
                <a:latin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57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上传资料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Word / PDF / MD</a:t>
            </a:r>
          </a:p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含公式与内嵌图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2267712"/>
            <a:ext cx="277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ADB2B8"/>
                </a:solidFill>
                <a:latin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4771" y="1810512"/>
            <a:ext cx="1847088" cy="1188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7651" y="19202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DB2B8"/>
                </a:solidFill>
                <a:latin typeface="微软雅黑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7651" y="2157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解析入库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7651" y="24323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分块 · 向量化</a:t>
            </a:r>
          </a:p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混合检索可命中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8435" y="2267712"/>
            <a:ext cx="277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ADB2B8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2303" y="1810512"/>
            <a:ext cx="1847088" cy="1188720"/>
          </a:xfrm>
          <a:prstGeom prst="roundRect">
            <a:avLst>
              <a:gd name="adj" fmla="val 6000"/>
            </a:avLst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5183" y="19202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176E6"/>
                </a:solidFill>
                <a:latin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5183" y="2157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/>
              </a:rPr>
              <a:t>建库出题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5183" y="24323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DB2B8"/>
                </a:solidFill>
                <a:latin typeface="微软雅黑"/>
              </a:rPr>
              <a:t>按原文出题</a:t>
            </a:r>
          </a:p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DB2B8"/>
                </a:solidFill>
                <a:latin typeface="微软雅黑"/>
              </a:rPr>
              <a:t>标注出处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2267712"/>
            <a:ext cx="277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ADB2B8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9835" y="1810512"/>
            <a:ext cx="1847088" cy="1188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715" y="19202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DB2B8"/>
                </a:solidFill>
                <a:latin typeface="微软雅黑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715" y="2157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刷题模考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715" y="24323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顺序 / 随机 / 错题 / 模拟考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499" y="2267712"/>
            <a:ext cx="277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ADB2B8"/>
                </a:solidFill>
                <a:latin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7367" y="1810512"/>
            <a:ext cx="1847088" cy="1188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0247" y="19202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DB2B8"/>
                </a:solidFill>
                <a:latin typeface="微软雅黑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247" y="2157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诊断计划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0247" y="24323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薄弱点 TOP5</a:t>
            </a:r>
          </a:p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下一步练什么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072384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1858C"/>
                </a:solidFill>
                <a:latin typeface="微软雅黑"/>
              </a:rPr>
              <a:t>↑  诊断结果回到「③ 建库出题」：只练不会的，题越刷越少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45643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60">
                <a:solidFill>
                  <a:srgbClr val="81858C"/>
                </a:solidFill>
                <a:latin typeface="微软雅黑"/>
              </a:rPr>
              <a:t>三个「不是」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803903"/>
            <a:ext cx="91440" cy="91440"/>
          </a:xfrm>
          <a:prstGeom prst="roundRect">
            <a:avLst>
              <a:gd name="adj" fmla="val 50000"/>
            </a:avLst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5" y="374903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不是又一个聊天框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" y="3995927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对话里的每个动作都调用真实工具、写入真实数据表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553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5" y="449884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不是又一个题库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" y="4745736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题库只是入口，真正卖点是「资料→题→诊断→计划」的闭环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3035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5" y="52486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不是演示脚本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" y="5495544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1666B"/>
                </a:solidFill>
                <a:latin typeface="微软雅黑"/>
              </a:rPr>
              <a:t>31 个公开题库、299 次作答、24 天学习记录都在库里</a:t>
            </a:r>
          </a:p>
        </p:txBody>
      </p:sp>
      <p:pic>
        <p:nvPicPr>
          <p:cNvPr id="41" name="Picture 40" descr="crop_55419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01568"/>
            <a:ext cx="5440680" cy="283464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989320" y="3401568"/>
            <a:ext cx="5440680" cy="28346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6272784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真实截图：一句话让两位专家并行建库 + 写题，写操作先确认后执行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03  /  产品完成度 ·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四条主线，现场都能走通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不是功能清单堆砌——每条主线都闭环到「用户能拿到结果」，并且有探针守着不回归。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3584448" cy="18470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95681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4176E6"/>
                </a:solidFill>
                <a:latin typeface="微软雅黑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385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微软雅黑"/>
              </a:rPr>
              <a:t>题库与考试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59152"/>
            <a:ext cx="31455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1666B"/>
                </a:solidFill>
                <a:latin typeface="微软雅黑"/>
              </a:rPr>
              <a:t>建库 / 组卷 / 顺序·随机·错题·模拟考；答题卡、自动判分、考试记录、再考一次、跨账号隔离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310128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">
                <a:solidFill>
                  <a:srgbClr val="4176E6"/>
                </a:solidFill>
                <a:latin typeface="微软雅黑"/>
              </a:rPr>
              <a:t>20+ 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792224"/>
            <a:ext cx="3584448" cy="18470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5681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4176E6"/>
                </a:solidFill>
                <a:latin typeface="微软雅黑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9385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微软雅黑"/>
              </a:rPr>
              <a:t>知识库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59152"/>
            <a:ext cx="31455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1666B"/>
                </a:solidFill>
                <a:latin typeface="微软雅黑"/>
              </a:rPr>
              <a:t>Word/PDF/MD 解析 → 分块 → 向量化 → 混合检索；教材原文出题、标注出处、图文并排预览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10128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">
                <a:solidFill>
                  <a:srgbClr val="4176E6"/>
                </a:solidFill>
                <a:latin typeface="微软雅黑"/>
              </a:rPr>
              <a:t>bge-m3 · 1024 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3584448" cy="18470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" y="396849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22C55E"/>
                </a:solidFill>
                <a:latin typeface="微软雅黑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9502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微软雅黑"/>
              </a:rPr>
              <a:t>学习闭环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4370832"/>
            <a:ext cx="31455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1666B"/>
                </a:solidFill>
                <a:latin typeface="微软雅黑"/>
              </a:rPr>
              <a:t>错题本、收藏、斩题、笔记（草稿自动保存）、学习统计、薄弱知识点 TOP5 与难度分布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5321808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">
                <a:solidFill>
                  <a:srgbClr val="22C55E"/>
                </a:solidFill>
                <a:latin typeface="微软雅黑"/>
              </a:rPr>
              <a:t>31 题库 / 299 作答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3803904"/>
            <a:ext cx="3584448" cy="184708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96849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22C55E"/>
                </a:solidFill>
                <a:latin typeface="微软雅黑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39502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微软雅黑"/>
              </a:rPr>
              <a:t>智能体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370832"/>
            <a:ext cx="31455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1666B"/>
                </a:solidFill>
                <a:latin typeface="微软雅黑"/>
              </a:rPr>
              <a:t>多专家并行、写操作二次确认、一键回退、跨会话长期记忆、对话内导出题库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5321808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">
                <a:solidFill>
                  <a:srgbClr val="22C55E"/>
                </a:solidFill>
                <a:latin typeface="微软雅黑"/>
              </a:rPr>
              <a:t>14 工具 / 5 专家</a:t>
            </a:r>
          </a:p>
        </p:txBody>
      </p:sp>
      <p:pic>
        <p:nvPicPr>
          <p:cNvPr id="26" name="Picture 25" descr="crop_503337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792224"/>
            <a:ext cx="3200400" cy="184708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11312" y="1792224"/>
            <a:ext cx="3200400" cy="1847088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3675887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题库搭建：AI 生成 / 发布 / 可见性</a:t>
            </a:r>
          </a:p>
        </p:txBody>
      </p:sp>
      <p:pic>
        <p:nvPicPr>
          <p:cNvPr id="29" name="Picture 28" descr="crop_218859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3913632"/>
            <a:ext cx="3200400" cy="184708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211312" y="3913632"/>
            <a:ext cx="3200400" cy="1847088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579729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学习统计：正确率 / 趋势 / 薄弱点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5870448"/>
            <a:ext cx="7196328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5980176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115"/>
                </a:solidFill>
                <a:latin typeface="微软雅黑"/>
              </a:rPr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6236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个 API 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0904" y="5980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115"/>
                </a:solidFill>
                <a:latin typeface="微软雅黑"/>
              </a:rPr>
              <a:t>156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9192" y="6236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个后端源文件 / 4.9 万行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5980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115"/>
                </a:solidFill>
                <a:latin typeface="微软雅黑"/>
              </a:rP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5" y="6236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个自动化探针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5980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115"/>
                </a:solidFill>
                <a:latin typeface="微软雅黑"/>
              </a:rPr>
              <a:t>200+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19" y="6236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次 Git 提交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04  /  技术实现 · 20%   ·   创新性 ·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轻量自研，把「可控」写进架构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不引入重型编排框架：路由零 LLM 成本、工具契约统一、写操作可确认可回退——这三件事决定了它能不能真用。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665683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前端  Vue 3 + 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883664"/>
            <a:ext cx="49011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对话页 / 题库 / 知识库抽屉 / 学习统计  ·  单一设计令牌体系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05456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DB2B8"/>
                </a:solidFill>
                <a:latin typeface="微软雅黑"/>
              </a:rPr>
              <a:t>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92324"/>
            <a:ext cx="665683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70205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流式网关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83764"/>
            <a:ext cx="49011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纯 ASGI 中间件 · SSE 逐字下发（修掉「攒批」导致的假流式）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05556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DB2B8"/>
                </a:solidFill>
                <a:latin typeface="微软雅黑"/>
              </a:rPr>
              <a:t>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92424"/>
            <a:ext cx="6656832" cy="731520"/>
          </a:xfrm>
          <a:prstGeom prst="roundRect">
            <a:avLst>
              <a:gd name="adj" fmla="val 40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50215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83142"/>
                </a:solidFill>
                <a:latin typeface="微软雅黑"/>
              </a:rPr>
              <a:t>Agent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483864"/>
            <a:ext cx="49011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83142"/>
                </a:solidFill>
                <a:latin typeface="微软雅黑"/>
              </a:rPr>
              <a:t>Orchestrator（关键词路由，零 LLM） → 5 类专家子代理 → 14 个工具（统一 {success,error,hint} 信封）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05656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DB2B8"/>
                </a:solidFill>
                <a:latin typeface="微软雅黑"/>
              </a:rPr>
              <a:t>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92524"/>
            <a:ext cx="665683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30225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RAG 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283964"/>
            <a:ext cx="49011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解析 → jieba 分块 → bge-m3（1024 维）→ HNSW 余弦 + tsvector GIN → RRF（k=60）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05756"/>
            <a:ext cx="182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DB2B8"/>
                </a:solidFill>
                <a:latin typeface="微软雅黑"/>
              </a:rPr>
              <a:t>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92624"/>
            <a:ext cx="665683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10235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84064"/>
            <a:ext cx="49011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PostgreSQL + pgvector  ·  Redis  ·  本地/对象存储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17739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60">
                <a:solidFill>
                  <a:srgbClr val="81858C"/>
                </a:solidFill>
                <a:latin typeface="微软雅黑"/>
              </a:rPr>
              <a:t>三个能讲清楚的创新点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2066543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4176E6"/>
                </a:solidFill>
                <a:latin typeface="微软雅黑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0391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多专家并行，单专家隐身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313432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一轮里并发多个 delegate_task；≥2 个专家才展开「工作组」卡片，1 个就融进主答，不打扰用户。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236976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4176E6"/>
                </a:solidFill>
                <a:latin typeface="微软雅黑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20954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让知识库「看得见图」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483864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文档内嵌图按【图N】归属到分块；喂模型用 data URL，落盘路径只用于回插——扫描件也能出带图的题。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407408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4176E6"/>
                </a:solidFill>
                <a:latin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37997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写操作可确认、可回退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654296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61666B"/>
                </a:solidFill>
                <a:latin typeface="微软雅黑"/>
              </a:rPr>
              <a:t>confirm_ticket 二次确认 + 题库/题目/分享/智能体四域整树快照；回退不了的操作必须明确告知。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5870448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598017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623620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次 LLM 用于路由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2424" y="598017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1,658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0712" y="623620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次命令 / 5 天（码道）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7608" y="598017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5896" y="623620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个探针 · 零 LLM 成本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2792" y="598017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623620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1858C"/>
                </a:solidFill>
                <a:latin typeface="微软雅黑"/>
              </a:rPr>
              <a:t>个已注册工具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05  /  怎么用码道开发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把 AI 编码变成一条可复核的流水线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码道 CodeArts 不是「补全插件」，是一个能自己读仓库、改代码、跑命令、提交的编码智能体。我们把它当同事用，不当魔法用。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60">
                <a:solidFill>
                  <a:srgbClr val="81858C"/>
                </a:solidFill>
                <a:latin typeface="微软雅黑"/>
              </a:rPr>
              <a:t>我们固定的五步工作法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">
                <a:solidFill>
                  <a:srgbClr val="4176E6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48255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需求进对话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295144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一句话说清目标 + 验收标准。例：「给智能体加知识库写入工具，要处理解析等待」。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437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">
                <a:solidFill>
                  <a:srgbClr val="4176E6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80720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先读后写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054096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grep / read / glob 先定位到文件与行号，再动手；禁止凭空猜 API。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">
                <a:solidFill>
                  <a:srgbClr val="4176E6"/>
                </a:solidFill>
                <a:latin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5661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计划拆解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813048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todowrite 列步骤，一次只改一个可验证的点，改完立刻验证。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6168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">
                <a:solidFill>
                  <a:srgbClr val="4176E6"/>
                </a:solidFill>
                <a:latin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32511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自测自修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572000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跑探针、type-check、接口联调；失败就自己改到过，不把问题丢回给人。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">
                <a:solidFill>
                  <a:srgbClr val="4176E6"/>
                </a:solidFill>
                <a:latin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508406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规范提交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533095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一个改动一个 commit，中文 conventional message，提交前扫密钥。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1773936"/>
            <a:ext cx="6291072" cy="2395728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19202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40">
                <a:solidFill>
                  <a:srgbClr val="81858C"/>
                </a:solidFill>
                <a:latin typeface="微软雅黑"/>
              </a:rPr>
              <a:t>码道真实开发数据  ·  2026-10-08 → 10-12  ·  本机数据目录可核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1945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57860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天 · 连续开发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1945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257860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个 · 项目会话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1945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134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257860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轮 · 需求对话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090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3,166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47472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次 · 工具调用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3090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183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347472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个 · 文件被改写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3090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 Light"/>
              </a:rPr>
              <a:t>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347472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次 · Git 提交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4315968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微软雅黑"/>
              </a:rPr>
              <a:t>工具调用构成：读得比写多，验证比生成多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58114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bash  命令 / 测试 / Git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87184" y="4608575"/>
            <a:ext cx="3218688" cy="105156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9024" y="45811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1,658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4805172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read  读文件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87184" y="4832603"/>
            <a:ext cx="1221082" cy="105156"/>
          </a:xfrm>
          <a:prstGeom prst="rect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1418" y="48051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629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8928" y="5029200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edit  改代码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87184" y="5056631"/>
            <a:ext cx="924062" cy="105156"/>
          </a:xfrm>
          <a:prstGeom prst="rect">
            <a:avLst/>
          </a:prstGeom>
          <a:solidFill>
            <a:srgbClr val="7A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4398" y="50292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476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5253228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write  新建文件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87184" y="5280659"/>
            <a:ext cx="370789" cy="105156"/>
          </a:xfrm>
          <a:prstGeom prst="rect">
            <a:avLst/>
          </a:prstGeom>
          <a:solidFill>
            <a:srgbClr val="B7C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1125" y="525322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191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5477256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grep  全局检索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87184" y="5504688"/>
            <a:ext cx="198013" cy="105156"/>
          </a:xfrm>
          <a:prstGeom prst="rect">
            <a:avLst/>
          </a:prstGeom>
          <a:solidFill>
            <a:srgbClr val="AD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8349" y="54772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102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38928" y="570128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其他（todo/glob/…）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87184" y="5728716"/>
            <a:ext cx="213543" cy="105156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3879" y="57012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115"/>
                </a:solidFill>
                <a:latin typeface="微软雅黑"/>
              </a:rPr>
              <a:t>110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650992"/>
            <a:ext cx="10637215" cy="457200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" y="5751576"/>
            <a:ext cx="10271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83142"/>
                </a:solidFill>
                <a:latin typeface="微软雅黑"/>
              </a:rPr>
              <a:t>629 次读 + 667 次改 + 1,658 次命令 = 真实的「读—改—验—提交」，不是「一键生成」。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06  /  怎么用码道开发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案例：多智能体协同，5 天从 0 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选一个最难的模块拆开讲——因为它能同时证明：码道读得懂老代码、改得动核心链路、还能自己验证。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line">
            <a:avLst/>
          </a:prstGeom>
          <a:ln w="1270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21175" y="21442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4176E6"/>
          </a:solidFill>
          <a:ln w="1524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025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20">
                <a:solidFill>
                  <a:srgbClr val="4176E6"/>
                </a:solidFill>
                <a:latin typeface="微软雅黑"/>
              </a:rPr>
              <a:t>10-09 16:49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2025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115"/>
                </a:solidFill>
                <a:latin typeface="微软雅黑"/>
              </a:rPr>
              <a:t>提需求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688336"/>
            <a:ext cx="195187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「加知识库/文档创建工具，并平衡解析等待体验」——一句话 + 验收标准。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4221" y="21442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0286" y="1810512"/>
            <a:ext cx="2025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20">
                <a:solidFill>
                  <a:srgbClr val="4176E6"/>
                </a:solidFill>
                <a:latin typeface="微软雅黑"/>
              </a:rPr>
              <a:t>10-09 16:50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0286" y="2414016"/>
            <a:ext cx="2025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115"/>
                </a:solidFill>
                <a:latin typeface="微软雅黑"/>
              </a:rPr>
              <a:t>先读代码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6862" y="2688336"/>
            <a:ext cx="195187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80 秒内连读 registry.py / loop.py / rag_write_service.py / document_pipeline.py。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7267" y="21442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3332" y="1810512"/>
            <a:ext cx="2025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20">
                <a:solidFill>
                  <a:srgbClr val="4176E6"/>
                </a:solidFill>
                <a:latin typeface="微软雅黑"/>
              </a:rPr>
              <a:t>10-09 20:12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3332" y="2414016"/>
            <a:ext cx="2025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115"/>
                </a:solidFill>
                <a:latin typeface="微软雅黑"/>
              </a:rPr>
              <a:t>并行调研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9908" y="2688336"/>
            <a:ext cx="195187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派 explore 子代理调研「多智能体改造可行点」，产出对比与结论。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0313" y="21442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4176E6"/>
          </a:solidFill>
          <a:ln w="1524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6378" y="1810512"/>
            <a:ext cx="2025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20">
                <a:solidFill>
                  <a:srgbClr val="4176E6"/>
                </a:solidFill>
                <a:latin typeface="微软雅黑"/>
              </a:rPr>
              <a:t>10-09 20:52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378" y="2414016"/>
            <a:ext cx="2025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115"/>
                </a:solidFill>
                <a:latin typeface="微软雅黑"/>
              </a:rPr>
              <a:t>落地实现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2954" y="2688336"/>
            <a:ext cx="195187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多智能体协同：官方角色切分 + 用户自定义智能体。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3360" y="21442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9424" y="1810512"/>
            <a:ext cx="2025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20">
                <a:solidFill>
                  <a:srgbClr val="4176E6"/>
                </a:solidFill>
                <a:latin typeface="微软雅黑"/>
              </a:rPr>
              <a:t>10-11 01:49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9424" y="2414016"/>
            <a:ext cx="2025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115"/>
                </a:solidFill>
                <a:latin typeface="微软雅黑"/>
              </a:rPr>
              <a:t>修到能跑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6000" y="2688336"/>
            <a:ext cx="195187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定位并修掉「子代理工具集被用户开关扣空」的真因。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66160"/>
            <a:ext cx="5138928" cy="2212848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" y="3694176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30">
                <a:solidFill>
                  <a:srgbClr val="81858C"/>
                </a:solidFill>
                <a:latin typeface="微软雅黑"/>
              </a:rPr>
              <a:t>真实提示词（原文，来自码道会话记录）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" y="3950208"/>
            <a:ext cx="470001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「在 openstudy-fastapi 这个 FastAPI 项目里，我要评估『多智能体协同』改造的可行性。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请调研并回报以下具体事实（要给出文件路径:行号）：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1. registry.py 的 definitions(exclude=...) 是否支持按工具名裁剪？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2. …能否直接复用成『按 Agent 角色挂不同工具』？」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" y="5431536"/>
            <a:ext cx="4700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ADB2B8"/>
                </a:solidFill>
                <a:latin typeface="微软雅黑"/>
              </a:rPr>
              <a:t>—— 会话 ses_edf6bde6effe… · 2026-10-09 20:12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53328" y="3566160"/>
            <a:ext cx="5376672" cy="2212848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69417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20">
                <a:solidFill>
                  <a:srgbClr val="81858C"/>
                </a:solidFill>
                <a:latin typeface="微软雅黑"/>
              </a:rPr>
              <a:t>同样的 5 天，产出的是可运行的代码，不是 demo 片段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986784"/>
            <a:ext cx="1207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 Light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437083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个文件 · agent 目录改动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3986784"/>
            <a:ext cx="1207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 Light"/>
              </a:rPr>
              <a:t>+2,666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437083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行 · agent 核心新增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3986784"/>
            <a:ext cx="1207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 Light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437083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类 · 专家角色（+兜底）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6688" y="3986784"/>
            <a:ext cx="1207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 Light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437083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1666B"/>
                </a:solidFill>
                <a:latin typeface="微软雅黑"/>
              </a:rPr>
              <a:t>个 · 在册工具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91072" y="4663440"/>
            <a:ext cx="4919472" cy="0"/>
          </a:xfrm>
          <a:prstGeom prst="line">
            <a:avLst/>
          </a:prstGeom>
          <a:ln w="635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91072" y="4773168"/>
            <a:ext cx="48463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D3D6DB"/>
                </a:solidFill>
                <a:latin typeface="微软雅黑"/>
              </a:rPr>
              <a:t>新增 roles / orchestrator / sub_agent / delegate / knowledge_ingest；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D3D6DB"/>
                </a:solidFill>
                <a:latin typeface="微软雅黑"/>
              </a:rPr>
              <a:t>一轮内并发多专家、单专家自动折叠、写操作先确认——这些是用户能立刻感知的差异。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5961888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6053328"/>
            <a:ext cx="106372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1666B"/>
                </a:solidFill>
                <a:latin typeface="微软雅黑"/>
              </a:rPr>
              <a:t>可复核：会话 ID、时间戳、工具调用、提交记录四者可对齐——评审可现场按 ID 抽查任意一轮。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07  /  怎么用码道开发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让 AI 写得快，也留得下：四类工程沉淀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真正拉开差距的不是「生成了多少行」，而是「下一次还能不能复用、改坏了能不能立刻发现」。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2535859" cy="19202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56816"/>
            <a:ext cx="213352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115"/>
                </a:solidFill>
                <a:latin typeface="微软雅黑 Light"/>
              </a:rPr>
              <a:t>110</a:t>
            </a:r>
            <a:r>
              <a:rPr sz="850" b="0">
                <a:solidFill>
                  <a:srgbClr val="81858C"/>
                </a:solidFill>
                <a:latin typeface="微软雅黑"/>
              </a:rPr>
              <a:t>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50592"/>
            <a:ext cx="21335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项目记忆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43200"/>
            <a:ext cx="21335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本机码道记忆库共 110 份，已脱敏归档 91 份进仓库。每条带 Why / How to apply：为什么这么做。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7691" y="1792224"/>
            <a:ext cx="2535859" cy="19202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8859" y="1956816"/>
            <a:ext cx="213352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115"/>
                </a:solidFill>
                <a:latin typeface="微软雅黑 Light"/>
              </a:rPr>
              <a:t>4</a:t>
            </a:r>
            <a:r>
              <a:rPr sz="850" b="0">
                <a:solidFill>
                  <a:srgbClr val="81858C"/>
                </a:solidFill>
                <a:latin typeface="微软雅黑"/>
              </a:rPr>
              <a:t>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8859" y="2450592"/>
            <a:ext cx="21335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自建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859" y="2743200"/>
            <a:ext cx="21335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GitCode 操作、仓库 wiki、跨仓流水线——把团队流程固化成码道可执行的技能。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1792224"/>
            <a:ext cx="2535859" cy="19202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1956816"/>
            <a:ext cx="213352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115"/>
                </a:solidFill>
                <a:latin typeface="微软雅黑 Light"/>
              </a:rPr>
              <a:t>45</a:t>
            </a:r>
            <a:r>
              <a:rPr sz="850" b="0">
                <a:solidFill>
                  <a:srgbClr val="81858C"/>
                </a:solidFill>
                <a:latin typeface="微软雅黑"/>
              </a:rPr>
              <a:t>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450592"/>
            <a:ext cx="21335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自动化探针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743200"/>
            <a:ext cx="21335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改完就跑，零 LLM 成本；本轮 agent 相关探针 32/32、timeline 10/10 全过才提交。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595" y="1792224"/>
            <a:ext cx="2535859" cy="19202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763" y="1956816"/>
            <a:ext cx="213352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115"/>
                </a:solidFill>
                <a:latin typeface="微软雅黑 Light"/>
              </a:rPr>
              <a:t>11</a:t>
            </a:r>
            <a:r>
              <a:rPr sz="850" b="0">
                <a:solidFill>
                  <a:srgbClr val="81858C"/>
                </a:solidFill>
                <a:latin typeface="微软雅黑"/>
              </a:rPr>
              <a:t>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763" y="2450592"/>
            <a:ext cx="21335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115"/>
                </a:solidFill>
                <a:latin typeface="微软雅黑"/>
              </a:rPr>
              <a:t>项目会话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763" y="2743200"/>
            <a:ext cx="21335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codearts session / export 随时导出原始对话；5 天连续运行日志同目录留存。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81858C"/>
                </a:solidFill>
                <a:latin typeface="微软雅黑"/>
              </a:rPr>
              <a:t>人机分工：我们负责「对不对」，码道负责「快不快」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97680"/>
            <a:ext cx="51206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442569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0F1115"/>
                </a:solidFill>
                <a:latin typeface="微软雅黑"/>
              </a:rPr>
              <a:t>人  ·  产品与验收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" y="470001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1666B"/>
                </a:solidFill>
                <a:latin typeface="微软雅黑"/>
              </a:rPr>
              <a:t>· 定义真实场景与验收标准（什么算「能用」）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50292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1666B"/>
                </a:solidFill>
                <a:latin typeface="微软雅黑"/>
              </a:rPr>
              <a:t>· 产品决策：专家怎么命名、什么时候折叠、回退怎么提示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" y="5358383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1666B"/>
                </a:solidFill>
                <a:latin typeface="微软雅黑"/>
              </a:rPr>
              <a:t>· 真机验收：预置数据、网络、演示节奏、合规底线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4297680"/>
            <a:ext cx="5340096" cy="1481328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256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FFFFFF"/>
                </a:solidFill>
                <a:latin typeface="微软雅黑"/>
              </a:rPr>
              <a:t>码道  ·  工程执行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000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DB2B8"/>
                </a:solidFill>
                <a:latin typeface="微软雅黑"/>
              </a:rPr>
              <a:t>· 读码定位：跨 200+ 文件找到真正的调用点与数据流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292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DB2B8"/>
                </a:solidFill>
                <a:latin typeface="微软雅黑"/>
              </a:rPr>
              <a:t>· 方案对比：给出 2–3 种做法 + 取舍，再按确认的方案改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58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ADB2B8"/>
                </a:solidFill>
                <a:latin typeface="微软雅黑"/>
              </a:rPr>
              <a:t>· 批量改写、自测修复、规范提交，一次到位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5961888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60533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1858C"/>
                </a:solidFill>
                <a:latin typeface="微软雅黑"/>
              </a:rPr>
              <a:t>证据位置：</a:t>
            </a:r>
            <a:r>
              <a:rPr sz="800" b="0">
                <a:solidFill>
                  <a:srgbClr val="4176E6"/>
                </a:solidFill>
                <a:latin typeface="微软雅黑"/>
              </a:rPr>
              <a:t>doc/dev-process/</a:t>
            </a:r>
            <a:r>
              <a:rPr sz="800" b="0">
                <a:solidFill>
                  <a:srgbClr val="61666B"/>
                </a:solidFill>
                <a:latin typeface="微软雅黑"/>
              </a:rPr>
              <a:t>   logs（每日日志） · sessions（6 份完整会话） · memory（91 份决策笔记） · codebase（索引记录）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08  / 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3 分钟，四个「看得见」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演示不追求功能全，只追求一件事：让评委在 3 分钟内看到「AI 真的动了我的数据」。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2549575" cy="239572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92224"/>
            <a:ext cx="2549575" cy="41148"/>
          </a:xfrm>
          <a:prstGeom prst="rect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38528"/>
            <a:ext cx="21472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">
                <a:solidFill>
                  <a:srgbClr val="4176E6"/>
                </a:solidFill>
                <a:latin typeface="微软雅黑"/>
              </a:rPr>
              <a:t>0:00 – 0:40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115"/>
                </a:solidFill>
                <a:latin typeface="微软雅黑"/>
              </a:rPr>
              <a:t>看得见处理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147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上传一份含公式与图片的 Word/PDF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" y="3108960"/>
            <a:ext cx="2147239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8408" y="3200400"/>
            <a:ext cx="21472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知识库面板实时显示解析进度；完成后点开分块，公式与图片都在。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3119" y="1792224"/>
            <a:ext cx="2549575" cy="239572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3119" y="1792224"/>
            <a:ext cx="2549575" cy="411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4287" y="1938528"/>
            <a:ext cx="21472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">
                <a:solidFill>
                  <a:srgbClr val="22C55E"/>
                </a:solidFill>
                <a:latin typeface="微软雅黑"/>
              </a:rPr>
              <a:t>0:40 – 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287" y="2176272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115"/>
                </a:solidFill>
                <a:latin typeface="微软雅黑"/>
              </a:rPr>
              <a:t>看得见结果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287" y="2487168"/>
            <a:ext cx="2147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一句话：「用这份资料建个题库，出 10 道题」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74287" y="3108960"/>
            <a:ext cx="2147240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74287" y="3200400"/>
            <a:ext cx="21472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两位专家并行：一个建库、一个出题；写操作先弹确认卡，确认后题目落库。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8999" y="1792224"/>
            <a:ext cx="2549575" cy="239572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8999" y="1792224"/>
            <a:ext cx="2549575" cy="41148"/>
          </a:xfrm>
          <a:prstGeom prst="rect">
            <a:avLst/>
          </a:prstGeom>
          <a:solidFill>
            <a:srgbClr val="DD8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1938528"/>
            <a:ext cx="21472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">
                <a:solidFill>
                  <a:srgbClr val="DD8629"/>
                </a:solidFill>
                <a:latin typeface="微软雅黑"/>
              </a:rPr>
              <a:t>1:30 – 2:20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2176272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115"/>
                </a:solidFill>
                <a:latin typeface="微软雅黑"/>
              </a:rPr>
              <a:t>看得见闭环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2487168"/>
            <a:ext cx="2147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开考 → 交卷 → 错题本 → 学习统计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70167" y="3108960"/>
            <a:ext cx="2147240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70167" y="3200400"/>
            <a:ext cx="21472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自动判分；错题进本；薄弱点 TOP5 与难度分布立刻更新。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4879" y="1792224"/>
            <a:ext cx="2549575" cy="239572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4879" y="1792224"/>
            <a:ext cx="2549575" cy="41148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6047" y="1938528"/>
            <a:ext cx="21472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">
                <a:solidFill>
                  <a:srgbClr val="0F1115"/>
                </a:solidFill>
                <a:latin typeface="微软雅黑"/>
              </a:rPr>
              <a:t>2:20 – 3:00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6047" y="2176272"/>
            <a:ext cx="2147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115"/>
                </a:solidFill>
                <a:latin typeface="微软雅黑"/>
              </a:rPr>
              <a:t>看得见智能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6047" y="2487168"/>
            <a:ext cx="2147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353638"/>
                </a:solidFill>
                <a:latin typeface="微软雅黑"/>
              </a:rPr>
              <a:t>「按我的薄弱点排一周复习计划」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66047" y="3108960"/>
            <a:ext cx="2147240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66047" y="3200400"/>
            <a:ext cx="21472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智能体读取真实统计，给出按天、按知识点的计划，并可一键写进错题本。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171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81858C"/>
                </a:solidFill>
                <a:latin typeface="微软雅黑"/>
              </a:rPr>
              <a:t>演示稳定性：把「万一」提前处理掉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28032"/>
            <a:ext cx="34360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微软雅黑"/>
              </a:rPr>
              <a:t>· 预置数据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1023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演示账号预置 31 个题库 / 299 条作答，开场即有内容可看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7842" y="4828032"/>
            <a:ext cx="34360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微软雅黑"/>
              </a:rPr>
              <a:t>· 提前热身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858" y="51023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演示前 2 小时跑 daily-start.sh，预热模型与向量检索（首字 45s → 2.8s）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8444" y="4828032"/>
            <a:ext cx="34360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微软雅黑"/>
              </a:rPr>
              <a:t>· 双保险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6460" y="510235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现场网络异常时切本地录屏；关键链路均有探针，演示前 10 分钟全跑一遍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797296"/>
            <a:ext cx="10637215" cy="310896"/>
          </a:xfrm>
          <a:prstGeom prst="roundRect">
            <a:avLst>
              <a:gd name="adj" fmla="val 80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852160"/>
            <a:ext cx="10271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83142"/>
                </a:solidFill>
                <a:latin typeface="微软雅黑"/>
              </a:rPr>
              <a:t>一句话记住：先给结果，再讲技术；每按一次按钮，都要有一处数据变化被看见。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4176E6"/>
                </a:solidFill>
                <a:latin typeface="微软雅黑"/>
              </a:rPr>
              <a:t>09  /  迭代计划  ·  路演与团队 ·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F1115"/>
                </a:solidFill>
                <a:latin typeface="微软雅黑"/>
              </a:rPr>
              <a:t>下一步：把「能用」做成「好用」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1666B"/>
                </a:solidFill>
                <a:latin typeface="微软雅黑"/>
              </a:rPr>
              <a:t>赛后 30 天与 90 天的路线已经排好——每一条都来自真实使用中发现的边界，不是拍脑袋的功能清单。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3423818" cy="267004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938528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80">
                <a:solidFill>
                  <a:srgbClr val="0F1115"/>
                </a:solidFill>
                <a:latin typeface="微软雅黑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已交付 · 本轮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5603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微软雅黑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03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多智能体协同（指挥家 + 5 类专家）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0175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微软雅黑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175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知识库图文解析与原文出题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4747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747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模拟考试、错题本、学情诊断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39319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319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写操作确认 + 四域回退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3938" y="1792224"/>
            <a:ext cx="3423818" cy="2670048"/>
          </a:xfrm>
          <a:prstGeom prst="roundRect">
            <a:avLst>
              <a:gd name="adj" fmla="val 50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3394" y="1938528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80">
                <a:solidFill>
                  <a:srgbClr val="4176E6"/>
                </a:solidFill>
                <a:latin typeface="微软雅黑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3394" y="217627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30 天 · 补能力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3394" y="25603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176E6"/>
                </a:solidFill>
                <a:latin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9698" y="25603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扫描版 PDF 接入 OCR，解决教材形态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3394" y="30175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176E6"/>
                </a:solidFill>
                <a:latin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9698" y="30175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多模态向量：以图搜图、文字搜图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3394" y="34747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176E6"/>
                </a:solidFill>
                <a:latin typeface="微软雅黑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9698" y="34747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移动端适配与消息中心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3394" y="39319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176E6"/>
                </a:solidFill>
                <a:latin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9698" y="39319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评测期限流策略与稳定性加固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0636" y="1792224"/>
            <a:ext cx="3423818" cy="2670048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9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0092" y="1938528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80">
                <a:solidFill>
                  <a:srgbClr val="81858C"/>
                </a:solidFill>
                <a:latin typeface="微软雅黑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217627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1115"/>
                </a:solidFill>
                <a:latin typeface="微软雅黑"/>
              </a:rPr>
              <a:t>90 天 · 上规模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0092" y="25603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1858C"/>
                </a:solidFill>
                <a:latin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396" y="25603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校园版多租户与教师端组卷分析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0092" y="30175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1858C"/>
                </a:solidFill>
                <a:latin typeface="微软雅黑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396" y="30175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对象存储直传（OBS），摆脱本地目录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0092" y="34747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1858C"/>
                </a:solidFill>
                <a:latin typeface="微软雅黑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6396" y="34747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题库/笔记开放 API 与插件机制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0092" y="3931920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1858C"/>
                </a:solidFill>
                <a:latin typeface="微软雅黑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6396" y="3931920"/>
            <a:ext cx="28386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61666B"/>
                </a:solidFill>
                <a:latin typeface="微软雅黑"/>
              </a:rPr>
              <a:t>接入更多华为云能力（OCR / 搜索）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6344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40">
                <a:solidFill>
                  <a:srgbClr val="81858C"/>
                </a:solidFill>
                <a:latin typeface="微软雅黑"/>
              </a:rPr>
              <a:t>团队分工（按真实职责，可一人多岗）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" y="4956048"/>
            <a:ext cx="3271418" cy="0"/>
          </a:xfrm>
          <a:prstGeom prst="line">
            <a:avLst/>
          </a:prstGeom>
          <a:ln w="1270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029200"/>
            <a:ext cx="32714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产品 / 后端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66944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场景定义、Agent 与 RAG 后端、数据与部署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77842" y="4956048"/>
            <a:ext cx="3271418" cy="0"/>
          </a:xfrm>
          <a:prstGeom prst="line">
            <a:avLst/>
          </a:prstGeom>
          <a:ln w="1270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377842" y="5029200"/>
            <a:ext cx="32714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前端 / 交互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7842" y="5266944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对话体验、题库与知识库面板、设计令牌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78444" y="4956048"/>
            <a:ext cx="3271419" cy="0"/>
          </a:xfrm>
          <a:prstGeom prst="line">
            <a:avLst/>
          </a:prstGeom>
          <a:ln w="12700">
            <a:solidFill>
              <a:srgbClr val="0F11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978444" y="5029200"/>
            <a:ext cx="32714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115"/>
                </a:solidFill>
                <a:latin typeface="微软雅黑"/>
              </a:rPr>
              <a:t>测试 / 演示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8444" y="5266944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61666B"/>
                </a:solidFill>
                <a:latin typeface="微软雅黑"/>
              </a:rPr>
              <a:t>探针与回归、演示脚本、材料与答辩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7240" y="574243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7240" y="585216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微软雅黑"/>
              </a:rPr>
              <a:t>谢谢。欢迎现场提问，也欢迎直接上手体验。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163056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作品源码：gitcode.com/qi142410131/openstudy-fastapi-ts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5815584"/>
            <a:ext cx="2743200" cy="475488"/>
          </a:xfrm>
          <a:prstGeom prst="roundRect">
            <a:avLst>
              <a:gd name="adj" fmla="val 10000"/>
            </a:avLst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9253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/>
              </a:rPr>
              <a:t>OpenStudy · 把不会的问到会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382512"/>
            <a:ext cx="10637215" cy="0"/>
          </a:xfrm>
          <a:prstGeom prst="line">
            <a:avLst/>
          </a:prstGeom>
          <a:ln w="6350">
            <a:solidFill>
              <a:srgbClr val="E9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7240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858C"/>
                </a:solidFill>
                <a:latin typeface="微软雅黑"/>
              </a:rPr>
              <a:t>OpenStudy · 华为开发者大赛福建赛区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17175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1858C"/>
                </a:solidFill>
                <a:latin typeface="微软雅黑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